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D40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PULSE 109 · GOVTECH CAMP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СИНТЕТИЧЕСКАЯ ДЕМОНСТРАЦИЯ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36F"/>
                </a:solidFill>
              </a:rPr>
              <a:t>Pulse 109 · AI предлагает, оператор решает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698480" y="65653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36F"/>
                </a:solidFill>
              </a:rPr>
              <a:t>28.09.2026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925"/>
          </a:solidFill>
          <a:ln w="12700">
            <a:solidFill>
              <a:srgbClr val="1729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046720" y="-1097280"/>
            <a:ext cx="5029200" cy="5029200"/>
          </a:xfrm>
          <a:prstGeom prst="arc">
            <a:avLst/>
          </a:prstGeom>
          <a:solidFill>
            <a:srgbClr val="18A66A">
              <a:alpha val="38000"/>
            </a:srgbClr>
          </a:solidFill>
          <a:ln w="12700">
            <a:solidFill>
              <a:srgbClr val="18A66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E0B6"/>
                </a:solidFill>
              </a:rPr>
              <a:t>PULSE 109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6858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Город слышит.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Оператор решает.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D2"/>
                </a:solidFill>
              </a:rPr>
              <a:t>AI-ситуационный центр для обращений граждан Казахстана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9776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05079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RU / KK VOICE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23160" y="397764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4050792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20 РЕГИОНОВ · SYNTHETIC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19472" y="397764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405079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HUMAN IN THE LOOP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AE"/>
                </a:solidFill>
              </a:rPr>
              <a:t>GovTech Camp · Case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6080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AE"/>
                </a:solidFill>
              </a:rPr>
              <a:t>Демонстрация продукта и обученного ML pipeline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ПРОБЛЕМА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От разрозненного сообщения — к проверяемому решению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Pulse 109 соединяет гражданина, оператора и ситуационный центр в одном потоке.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286000"/>
            <a:ext cx="64008" cy="3337560"/>
          </a:xfrm>
          <a:prstGeom prst="rect">
            <a:avLst/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01 · Гражданин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Голосом или текстом описывает проблему, выбирает город и точку на карте, прикладывает фото или видео.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228600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2286000"/>
            <a:ext cx="64008" cy="3337560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02 · Оператор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2944368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Видит приоритет, Laya-категорию, похожие случаи, маршрут и черновик Qwen. Любое действие подтверждает человек.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286000"/>
            <a:ext cx="64008" cy="33375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03 · Ситуационный центр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944368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Собирает обращения в инциденты, показывает всплески, прогноз на 1–3 месяца и экспортирует отчёты.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05072" y="3584448"/>
            <a:ext cx="329184" cy="640080"/>
          </a:xfrm>
          <a:prstGeom prst="chevron">
            <a:avLst/>
          </a:prstGeom>
          <a:solidFill>
            <a:srgbClr val="9EB5AC"/>
          </a:solidFill>
          <a:ln w="12700">
            <a:solidFill>
              <a:srgbClr val="9EB5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3584448"/>
            <a:ext cx="329184" cy="640080"/>
          </a:xfrm>
          <a:prstGeom prst="chevron">
            <a:avLst/>
          </a:prstGeom>
          <a:solidFill>
            <a:srgbClr val="9EB5AC"/>
          </a:solidFill>
          <a:ln w="12700">
            <a:solidFill>
              <a:srgbClr val="9EB5A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ДАННЫЕ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Честная граница доказательств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Неполный пакет не маскируется: каждый экран и экспорт сохраняют происхождение данных.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240280"/>
            <a:ext cx="64008" cy="3474720"/>
          </a:xfrm>
          <a:prstGeom prst="rect">
            <a:avLst/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Данные организаторов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98648"/>
            <a:ext cx="4800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7 регионов / 8 CSV в исходном пакете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6 регионов в проверенном time-series aggregate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Устаревшая свежесть видна в интерфейсе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Отсутствующие регионы не заменяются нулями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240280"/>
            <a:ext cx="64008" cy="347472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Национальная синтетика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898648"/>
            <a:ext cx="4800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20 регионов Казахстана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10 городских категорий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24 месяца до текущего месяца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Детерминированный генератор и отдельный data_origin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Нужна для демонстрации alerts, forecast и national 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5138928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D65A4A"/>
          </a:solidFill>
          <a:ln w="12700">
            <a:solidFill>
              <a:srgbClr val="D65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5212080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НЕ ОФИЦИАЛЬНАЯ СТАТИСТИКА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СОБСТВЕННЫЙ 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Laya обучена и откалибрована на NVIDIA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Метрики ниже получены на group-separated синтетическом RU/KK test set.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2423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925"/>
                </a:solidFill>
              </a:rPr>
              <a:t>37.5%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F"/>
                </a:solidFill>
              </a:rPr>
              <a:t>baseline accuracy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2240280"/>
            <a:ext cx="2423160" cy="1280160"/>
          </a:xfrm>
          <a:prstGeom prst="roundRect">
            <a:avLst/>
          </a:prstGeom>
          <a:solidFill>
            <a:srgbClr val="172925"/>
          </a:solidFill>
          <a:ln w="12700">
            <a:solidFill>
              <a:srgbClr val="1729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70.3%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D0C8"/>
                </a:solidFill>
              </a:rPr>
              <a:t>trained accuracy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2423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925"/>
                </a:solidFill>
              </a:rPr>
              <a:t>67.4%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55080" y="3017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F"/>
                </a:solidFill>
              </a:rPr>
              <a:t>macro-F1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2240280"/>
            <a:ext cx="2423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925"/>
                </a:solidFill>
              </a:rPr>
              <a:t>0.044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144000" y="3017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F"/>
                </a:solidFill>
              </a:rPr>
              <a:t>calibrated ECE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977640"/>
            <a:ext cx="64008" cy="1463040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206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Почему это важно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636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Laya не просто вызывает внешний API: checkpoint, calibration и evidence SHA-256 хранятся вместе с результатами. Решение остаётся shadow/human-confirmed.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3977640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36208" y="3977640"/>
            <a:ext cx="64008" cy="1463040"/>
          </a:xfrm>
          <a:prstGeom prst="rect">
            <a:avLst/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420624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Вычисления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4636008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NVIDIA Brev · 2× T4 · воспроизводимые прогоны. Production accuracy на реальных обращениях пока не заявляется.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ПОИСК ПОХОЖИХ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Multilingual E5 связывает RU ↔ KK обращения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Fine-tuned retrieval помогает находить дубли и решения, сохраняя подтверждение оператора.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nDCG@10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2377440"/>
            <a:ext cx="7132320" cy="320040"/>
          </a:xfrm>
          <a:prstGeom prst="roundRect">
            <a:avLst/>
          </a:prstGeom>
          <a:solidFill>
            <a:srgbClr val="E1E6E3"/>
          </a:solidFill>
          <a:ln w="12700">
            <a:solidFill>
              <a:srgbClr val="E1E6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377440"/>
            <a:ext cx="5208020" cy="320040"/>
          </a:xfrm>
          <a:prstGeom prst="roundRect">
            <a:avLst/>
          </a:prstGeom>
          <a:solidFill>
            <a:srgbClr val="A7BBB3"/>
          </a:solidFill>
          <a:ln w="12700">
            <a:solidFill>
              <a:srgbClr val="A7BB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0" y="2414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6F"/>
                </a:solidFill>
              </a:rPr>
              <a:t>73.0% baseline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2852928"/>
            <a:ext cx="7132320" cy="320040"/>
          </a:xfrm>
          <a:prstGeom prst="roundRect">
            <a:avLst/>
          </a:prstGeom>
          <a:solidFill>
            <a:srgbClr val="E1E6E3"/>
          </a:solidFill>
          <a:ln w="12700">
            <a:solidFill>
              <a:srgbClr val="E1E6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852928"/>
            <a:ext cx="6891248" cy="320040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0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A66A"/>
                </a:solidFill>
              </a:rPr>
              <a:t>96.6% trained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776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RU↔KK Recall@5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3794760"/>
            <a:ext cx="7132320" cy="320040"/>
          </a:xfrm>
          <a:prstGeom prst="roundRect">
            <a:avLst/>
          </a:prstGeom>
          <a:solidFill>
            <a:srgbClr val="E1E6E3"/>
          </a:solidFill>
          <a:ln w="12700">
            <a:solidFill>
              <a:srgbClr val="E1E6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794760"/>
            <a:ext cx="2546238" cy="320040"/>
          </a:xfrm>
          <a:prstGeom prst="roundRect">
            <a:avLst/>
          </a:prstGeom>
          <a:solidFill>
            <a:srgbClr val="A7BBB3"/>
          </a:solidFill>
          <a:ln w="12700">
            <a:solidFill>
              <a:srgbClr val="A7BB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3831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6F"/>
                </a:solidFill>
              </a:rPr>
              <a:t>35.7% baseline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4270248"/>
            <a:ext cx="7132320" cy="320040"/>
          </a:xfrm>
          <a:prstGeom prst="roundRect">
            <a:avLst/>
          </a:prstGeom>
          <a:solidFill>
            <a:srgbClr val="E1E6E3"/>
          </a:solidFill>
          <a:ln w="12700">
            <a:solidFill>
              <a:srgbClr val="E1E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4270248"/>
            <a:ext cx="4457700" cy="320040"/>
          </a:xfrm>
          <a:prstGeom prst="round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4306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A66A"/>
                </a:solidFill>
              </a:rPr>
              <a:t>62.5% trained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Безопасная граница: похожесть предлагает кандидатов; объединение обращений и связь с инцидентом подтверждает оператор.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CITIZEN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Голос, карта и приватность в одном сценарии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RU/KK live-диалог заполняет форму; адрес и город остаются редактируемыми.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7784" y="2112264"/>
            <a:ext cx="5513832" cy="3593592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25400" dist="50800" dir="2700000">
              <a:srgbClr val="AEB9B4">
                <a:alpha val="22000"/>
              </a:srgbClr>
            </a:outerShdw>
          </a:effectLst>
        </p:spPr>
      </p:sp>
      <p:pic>
        <p:nvPicPr>
          <p:cNvPr id="6" name="Image 0" descr="/Users/eliasansariy/Documents/Codex/2026-09-24/new-chat/outputs/pulse109-omnivoice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48840"/>
            <a:ext cx="544068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91072" y="2112264"/>
            <a:ext cx="5330952" cy="3593592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25400" dist="50800" dir="2700000">
              <a:srgbClr val="AEB9B4">
                <a:alpha val="22000"/>
              </a:srgbClr>
            </a:outerShdw>
          </a:effectLst>
        </p:spPr>
      </p:sp>
      <p:pic>
        <p:nvPicPr>
          <p:cNvPr id="8" name="Image 1" descr="/Users/eliasansariy/Documents/Codex/2026-09-24/new-chat/outputs/pulse109-public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148840"/>
            <a:ext cx="5257800" cy="3520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5824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A66A"/>
                </a:solidFill>
              </a:rPr>
              <a:t>Аудио не сохраняется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382512" y="582472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A66A"/>
                </a:solidFill>
              </a:rPr>
              <a:t>Публичная карта: только согласие + модерация + редактирование PII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OPERATOR WORKSPACE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Очередь объясняет, что делать следующим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Приоритет объединяет срочность, риск SLA, ожидание, инцидент и ручную проверку.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7784" y="2020824"/>
            <a:ext cx="6931152" cy="4050792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25400" dist="50800" dir="2700000">
              <a:srgbClr val="AEB9B4">
                <a:alpha val="22000"/>
              </a:srgbClr>
            </a:outerShdw>
          </a:effectLst>
        </p:spPr>
      </p:sp>
      <p:pic>
        <p:nvPicPr>
          <p:cNvPr id="6" name="Image 0" descr="/Users/eliasansariy/Documents/Codex/2026-09-24/new-chat/outputs/pulse109-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57400"/>
            <a:ext cx="685800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54112" y="2057400"/>
            <a:ext cx="37947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54112" y="2057400"/>
            <a:ext cx="64008" cy="1060704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Laya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28432" y="2715768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Категория и уверенность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54112" y="3337560"/>
            <a:ext cx="37947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54112" y="3337560"/>
            <a:ext cx="64008" cy="1060704"/>
          </a:xfrm>
          <a:prstGeom prst="rect">
            <a:avLst/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8432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Qwen Copilot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28432" y="3995928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Черновик и следующий шаг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54112" y="4617720"/>
            <a:ext cx="37947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54112" y="4617720"/>
            <a:ext cx="64008" cy="1060704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8432" y="4846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Human gate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28432" y="5276088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Категория, маршрут и ответ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СИТУАЦИОННЫЙ ЦЕНТР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От отдельных заявок — к массовому инциденту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Радар группирует сигналы по месту, времени и характеру проблемы. Оригиналы не теряются.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7784" y="2020824"/>
            <a:ext cx="6793992" cy="4050792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25400" dist="50800" dir="2700000">
              <a:srgbClr val="AEB9B4">
                <a:alpha val="22000"/>
              </a:srgbClr>
            </a:outerShdw>
          </a:effectLst>
        </p:spPr>
      </p:sp>
      <p:pic>
        <p:nvPicPr>
          <p:cNvPr id="6" name="Image 0" descr="/Users/eliasansariy/Documents/Codex/2026-09-24/new-chat/outputs/pulse109-incident-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57400"/>
            <a:ext cx="672084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62672" y="205740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62672" y="2057400"/>
            <a:ext cx="64008" cy="10515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6992" y="2286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1 · Найти всплеск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6992" y="2715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Автоматический сигнал по свежему месяцу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62672" y="3319272"/>
            <a:ext cx="64008" cy="1051560"/>
          </a:xfrm>
          <a:prstGeom prst="rect">
            <a:avLst/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36992" y="3547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2 · Проверить связи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6992" y="3977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Похожие обращения + безопасные признаки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62672" y="4581144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62672" y="4581144"/>
            <a:ext cx="64008" cy="1051560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4809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3 · Подтвердить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36992" y="5239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Оператор создаёт или отклоняет инцидент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Семь минут от обращения до управленческого сигнала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Рекомендуемый маршрут выступления; GPU-сервисы уже подключены к production.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39112"/>
            <a:ext cx="347472" cy="34747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2598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Гражданин: RU/KK голос → город → точка → фото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69464"/>
            <a:ext cx="347472" cy="34747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63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34440" y="25877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Оператор: Laya-категория и приоритет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99816"/>
            <a:ext cx="347472" cy="34747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8668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34440" y="311810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E5: похожие случаи и защита от ложного объединения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0168"/>
            <a:ext cx="347472" cy="34747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1703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34440" y="364845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Qwen: проверяемый черновик ответа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347472" cy="34747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4738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34440" y="41788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Радар: подтверждение массового инцидента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690872"/>
            <a:ext cx="347472" cy="347472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7774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34440" y="4709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Аналитика: synthetic 20 регионов → alert → forecast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221224"/>
            <a:ext cx="347472" cy="347472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30809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34440" y="5239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925"/>
                </a:solidFill>
              </a:rPr>
              <a:t>PDF/XLSX → organizer mode → показать неполноту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287000" y="54406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65A4A"/>
          </a:solidFill>
          <a:ln w="12700">
            <a:solidFill>
              <a:srgbClr val="D65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0152" y="5513832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</a:rPr>
              <a:t>LIVE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66A"/>
                </a:solidFill>
              </a:rPr>
              <a:t>ГОТОВНОСТЬ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925"/>
                </a:solidFill>
              </a:rPr>
              <a:t>Что уже доказано — и следующий gate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F"/>
                </a:solidFill>
              </a:rPr>
              <a:t>Продукт готов к демонстрации полного процесса; реальные данные нужны для production-оценки.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3383280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Доказано сейчас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✓ Полный citizen → operator → incident → analytics 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✓ Self-hosted Laya, E5, Qwen, RU/KK STT/TTS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✓ GPU training evidence и checkpoint hashes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✓ 20-region synthetic national demo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✓ Consent, moderation, PII redaction и audit trail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✓ PDF/XLSX и operational fallback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6208" y="2148840"/>
            <a:ext cx="533095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DD7"/>
            </a:solidFill>
            <a:prstDash val="solid"/>
          </a:ln>
          <a:effectLst>
            <a:outerShdw sx="100000" sy="100000" kx="0" ky="0" algn="bl" rotWithShape="0" blurRad="19050" dist="50800" dir="2700000">
              <a:srgbClr val="C4CBC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2148840"/>
            <a:ext cx="64008" cy="3383280"/>
          </a:xfrm>
          <a:prstGeom prst="rect">
            <a:avLst/>
          </a:prstGeom>
          <a:solidFill>
            <a:srgbClr val="244A65"/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37744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925"/>
                </a:solidFill>
              </a:rPr>
              <a:t>Следующий production gate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0528" y="2807208"/>
            <a:ext cx="48280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1. Полный датасет всех регионов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2. Репрезентативная ручная разметка RU/KK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3. Canary на реальном потоке без автодействий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4. Accuracy/F1/calibration по реальным классам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5. Owner-authenticated кабинет заявителя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F"/>
                </a:solidFill>
              </a:rPr>
              <a:t>6. Согласованные SLA и интеграции служб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925"/>
                </a:solidFill>
              </a:rPr>
              <a:t>Pulse 109 не скрывает неопределённость — он превращает её в проверяемое решение оператора.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3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Pulse 109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109 — ситуационный центр обращений</dc:title>
  <dc:subject>GovTech Camp demo</dc:subject>
  <dc:creator>Pulse 109</dc:creator>
  <cp:lastModifiedBy>Pulse 109</cp:lastModifiedBy>
  <cp:revision>1</cp:revision>
  <dcterms:created xsi:type="dcterms:W3CDTF">2026-09-28T08:50:22Z</dcterms:created>
  <dcterms:modified xsi:type="dcterms:W3CDTF">2026-09-28T08:50:22Z</dcterms:modified>
</cp:coreProperties>
</file>